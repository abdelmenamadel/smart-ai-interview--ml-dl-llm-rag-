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7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4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7815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0F2640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5285232" y="0"/>
            <a:ext cx="64008" cy="5143500"/>
          </a:xfrm>
          <a:prstGeom prst="rect">
            <a:avLst/>
          </a:prstGeom>
          <a:solidFill>
            <a:srgbClr val="1B998B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285232" cy="54864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5" name="Text 3"/>
          <p:cNvSpPr/>
          <p:nvPr/>
        </p:nvSpPr>
        <p:spPr>
          <a:xfrm>
            <a:off x="502920" y="16459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500" dirty="0">
                <a:solidFill>
                  <a:srgbClr val="B0BEC5"/>
                </a:solidFill>
              </a:rPr>
              <a:t>BENHA UNIVERSITY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02336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AB5"/>
                </a:solidFill>
              </a:rPr>
              <a:t>Faculty of Computers &amp; Artificial Intelligence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AI</a:t>
            </a:r>
            <a:endParaRPr lang="en-US" sz="5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Interviewer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502920" y="292608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B998B"/>
                </a:solidFill>
              </a:rPr>
              <a:t>An End-to-End AI System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3419856"/>
            <a:ext cx="1709928" cy="237744"/>
          </a:xfrm>
          <a:prstGeom prst="roundRect">
            <a:avLst>
              <a:gd name="adj" fmla="val 19231"/>
            </a:avLst>
          </a:prstGeom>
          <a:solidFill>
            <a:srgbClr val="1A6CA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0" name="Text 8"/>
          <p:cNvSpPr/>
          <p:nvPr/>
        </p:nvSpPr>
        <p:spPr>
          <a:xfrm>
            <a:off x="502920" y="3419856"/>
            <a:ext cx="170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Machine Learning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252793" y="3419856"/>
            <a:ext cx="1449324" cy="237744"/>
          </a:xfrm>
          <a:prstGeom prst="roundRect">
            <a:avLst>
              <a:gd name="adj" fmla="val 19231"/>
            </a:avLst>
          </a:prstGeom>
          <a:solidFill>
            <a:srgbClr val="1B998B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2" name="Text 10"/>
          <p:cNvSpPr/>
          <p:nvPr/>
        </p:nvSpPr>
        <p:spPr>
          <a:xfrm>
            <a:off x="2255199" y="3398200"/>
            <a:ext cx="14493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Deep Learning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769614" y="3410711"/>
            <a:ext cx="580644" cy="237744"/>
          </a:xfrm>
          <a:prstGeom prst="roundRect">
            <a:avLst>
              <a:gd name="adj" fmla="val 19231"/>
            </a:avLst>
          </a:prstGeom>
          <a:solidFill>
            <a:srgbClr val="8A2BE2"/>
          </a:solidFill>
          <a:ln/>
        </p:spPr>
        <p:txBody>
          <a:bodyPr/>
          <a:lstStyle/>
          <a:p>
            <a:endParaRPr lang="en-EG" dirty="0"/>
          </a:p>
        </p:txBody>
      </p:sp>
      <p:sp>
        <p:nvSpPr>
          <p:cNvPr id="14" name="Text 12"/>
          <p:cNvSpPr/>
          <p:nvPr/>
        </p:nvSpPr>
        <p:spPr>
          <a:xfrm>
            <a:off x="3762756" y="3410711"/>
            <a:ext cx="5806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RAG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402836" y="3398200"/>
            <a:ext cx="580644" cy="237744"/>
          </a:xfrm>
          <a:prstGeom prst="roundRect">
            <a:avLst>
              <a:gd name="adj" fmla="val 19231"/>
            </a:avLst>
          </a:prstGeom>
          <a:solidFill>
            <a:srgbClr val="E67E22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6" name="Text 14"/>
          <p:cNvSpPr/>
          <p:nvPr/>
        </p:nvSpPr>
        <p:spPr>
          <a:xfrm>
            <a:off x="4402836" y="3398200"/>
            <a:ext cx="5806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LLM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02920" y="3749040"/>
            <a:ext cx="4480560" cy="0"/>
          </a:xfrm>
          <a:prstGeom prst="line">
            <a:avLst/>
          </a:prstGeom>
          <a:noFill/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8" name="Text 16"/>
          <p:cNvSpPr/>
          <p:nvPr/>
        </p:nvSpPr>
        <p:spPr>
          <a:xfrm>
            <a:off x="5532120" y="2560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1B998B"/>
                </a:solidFill>
              </a:rPr>
              <a:t>PROJECT TEAM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94960" y="658368"/>
            <a:ext cx="3520440" cy="566928"/>
          </a:xfrm>
          <a:prstGeom prst="rect">
            <a:avLst/>
          </a:prstGeom>
          <a:solidFill>
            <a:srgbClr val="112233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0" name="Text 18"/>
          <p:cNvSpPr/>
          <p:nvPr/>
        </p:nvSpPr>
        <p:spPr>
          <a:xfrm>
            <a:off x="5577840" y="74980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Abdelmoneim Adel Abdelmoneim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394960" y="1298448"/>
            <a:ext cx="3520440" cy="566928"/>
          </a:xfrm>
          <a:prstGeom prst="rect">
            <a:avLst/>
          </a:prstGeom>
          <a:solidFill>
            <a:srgbClr val="0A182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2" name="Text 20"/>
          <p:cNvSpPr/>
          <p:nvPr/>
        </p:nvSpPr>
        <p:spPr>
          <a:xfrm>
            <a:off x="5577840" y="138988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Mahmoud Ahmed Abd El-Fattah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94960" y="1938528"/>
            <a:ext cx="3520440" cy="566928"/>
          </a:xfrm>
          <a:prstGeom prst="rect">
            <a:avLst/>
          </a:prstGeom>
          <a:solidFill>
            <a:srgbClr val="112233"/>
          </a:solidFill>
          <a:ln/>
        </p:spPr>
        <p:txBody>
          <a:bodyPr/>
          <a:lstStyle/>
          <a:p>
            <a:endParaRPr lang="en-EG" dirty="0"/>
          </a:p>
        </p:txBody>
      </p:sp>
      <p:sp>
        <p:nvSpPr>
          <p:cNvPr id="24" name="Text 22"/>
          <p:cNvSpPr/>
          <p:nvPr/>
        </p:nvSpPr>
        <p:spPr>
          <a:xfrm>
            <a:off x="5577840" y="202996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Kamal Sayed Kamal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394960" y="2578608"/>
            <a:ext cx="3520440" cy="566928"/>
          </a:xfrm>
          <a:prstGeom prst="rect">
            <a:avLst/>
          </a:prstGeom>
          <a:solidFill>
            <a:srgbClr val="0A182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6" name="Text 24"/>
          <p:cNvSpPr/>
          <p:nvPr/>
        </p:nvSpPr>
        <p:spPr>
          <a:xfrm>
            <a:off x="5577840" y="267004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Abdelrahman Amr Mohammed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394960" y="3218688"/>
            <a:ext cx="3520440" cy="566928"/>
          </a:xfrm>
          <a:prstGeom prst="rect">
            <a:avLst/>
          </a:prstGeom>
          <a:solidFill>
            <a:srgbClr val="112233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8" name="Text 26"/>
          <p:cNvSpPr/>
          <p:nvPr/>
        </p:nvSpPr>
        <p:spPr>
          <a:xfrm>
            <a:off x="5577840" y="331012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Mahmoud Ahmed Hosny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394960" y="3858768"/>
            <a:ext cx="3520440" cy="566928"/>
          </a:xfrm>
          <a:prstGeom prst="rect">
            <a:avLst/>
          </a:prstGeom>
          <a:solidFill>
            <a:srgbClr val="0A182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0" name="Text 28"/>
          <p:cNvSpPr/>
          <p:nvPr/>
        </p:nvSpPr>
        <p:spPr>
          <a:xfrm>
            <a:off x="5577840" y="395020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" y="3886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A"/>
                </a:solidFill>
              </a:rPr>
              <a:t>Academic Year 2025 – 2026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32004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A7A"/>
                </a:solidFill>
              </a:rPr>
              <a:t>What we'll cover today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73152" cy="1005840"/>
          </a:xfrm>
          <a:prstGeom prst="rect">
            <a:avLst/>
          </a:prstGeom>
          <a:solidFill>
            <a:srgbClr val="1A6CA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502920" y="133502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6CA8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1673352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Problem Statement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9476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</a:rPr>
              <a:t>Why traditional recruitment systems fail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42316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1" name="Shape 9"/>
          <p:cNvSpPr/>
          <p:nvPr/>
        </p:nvSpPr>
        <p:spPr>
          <a:xfrm>
            <a:off x="320040" y="2423160"/>
            <a:ext cx="73152" cy="1005840"/>
          </a:xfrm>
          <a:prstGeom prst="rect">
            <a:avLst/>
          </a:prstGeom>
          <a:solidFill>
            <a:srgbClr val="1A6CA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2" name="Text 10"/>
          <p:cNvSpPr/>
          <p:nvPr/>
        </p:nvSpPr>
        <p:spPr>
          <a:xfrm>
            <a:off x="502920" y="249631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6CA8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283464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System Overview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1089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</a:rPr>
              <a:t>The 4-layer AI architecture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584448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6" name="Shape 14"/>
          <p:cNvSpPr/>
          <p:nvPr/>
        </p:nvSpPr>
        <p:spPr>
          <a:xfrm>
            <a:off x="320040" y="3584448"/>
            <a:ext cx="73152" cy="1005840"/>
          </a:xfrm>
          <a:prstGeom prst="rect">
            <a:avLst/>
          </a:prstGeom>
          <a:solidFill>
            <a:srgbClr val="1A6CA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7" name="Text 15"/>
          <p:cNvSpPr/>
          <p:nvPr/>
        </p:nvSpPr>
        <p:spPr>
          <a:xfrm>
            <a:off x="502920" y="36576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6CA8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2920" y="399592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Technical Deep Dive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42702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</a:rPr>
              <a:t>ML · DL · RAG · LLM explained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1261872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1" name="Shape 19"/>
          <p:cNvSpPr/>
          <p:nvPr/>
        </p:nvSpPr>
        <p:spPr>
          <a:xfrm>
            <a:off x="4709160" y="1261872"/>
            <a:ext cx="73152" cy="1005840"/>
          </a:xfrm>
          <a:prstGeom prst="rect">
            <a:avLst/>
          </a:prstGeom>
          <a:solidFill>
            <a:srgbClr val="1A6CA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2" name="Text 20"/>
          <p:cNvSpPr/>
          <p:nvPr/>
        </p:nvSpPr>
        <p:spPr>
          <a:xfrm>
            <a:off x="4892040" y="133502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6CA8"/>
                </a:solidFill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92040" y="1673352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Data Science Methodology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19476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</a:rPr>
              <a:t>From data to deployment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42316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6" name="Shape 24"/>
          <p:cNvSpPr/>
          <p:nvPr/>
        </p:nvSpPr>
        <p:spPr>
          <a:xfrm>
            <a:off x="4709160" y="2423160"/>
            <a:ext cx="73152" cy="1005840"/>
          </a:xfrm>
          <a:prstGeom prst="rect">
            <a:avLst/>
          </a:prstGeom>
          <a:solidFill>
            <a:srgbClr val="1A6CA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7" name="Text 25"/>
          <p:cNvSpPr/>
          <p:nvPr/>
        </p:nvSpPr>
        <p:spPr>
          <a:xfrm>
            <a:off x="4892040" y="249631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6CA8"/>
                </a:solidFill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892040" y="283464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Results &amp; Demo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92040" y="31089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</a:rPr>
              <a:t>Live system walkthrough &amp; metrics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3584448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1" name="Shape 29"/>
          <p:cNvSpPr/>
          <p:nvPr/>
        </p:nvSpPr>
        <p:spPr>
          <a:xfrm>
            <a:off x="4709160" y="3584448"/>
            <a:ext cx="73152" cy="1005840"/>
          </a:xfrm>
          <a:prstGeom prst="rect">
            <a:avLst/>
          </a:prstGeom>
          <a:solidFill>
            <a:srgbClr val="1A6CA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2" name="Text 30"/>
          <p:cNvSpPr/>
          <p:nvPr/>
        </p:nvSpPr>
        <p:spPr>
          <a:xfrm>
            <a:off x="4892040" y="36576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6CA8"/>
                </a:solidFill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892040" y="399592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92040" y="42702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</a:rPr>
              <a:t>Impact, learnings &amp; future work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98B"/>
                </a:solidFill>
              </a:rPr>
              <a:t>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11480" y="1371600"/>
            <a:ext cx="8321040" cy="960120"/>
          </a:xfrm>
          <a:prstGeom prst="rect">
            <a:avLst/>
          </a:prstGeom>
          <a:solidFill>
            <a:srgbClr val="0A2840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5" name="Shape 3"/>
          <p:cNvSpPr/>
          <p:nvPr/>
        </p:nvSpPr>
        <p:spPr>
          <a:xfrm>
            <a:off x="548640" y="1536192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6" name="Text 4"/>
          <p:cNvSpPr/>
          <p:nvPr/>
        </p:nvSpPr>
        <p:spPr>
          <a:xfrm>
            <a:off x="548640" y="15179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✗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4630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Keyword-Based Matching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792224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Traditional ATS systems miss qualified candidates by relying on exact keyword matches, ignoring semantic meaning.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487168"/>
            <a:ext cx="8321040" cy="960120"/>
          </a:xfrm>
          <a:prstGeom prst="rect">
            <a:avLst/>
          </a:prstGeom>
          <a:solidFill>
            <a:srgbClr val="0A2840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1" name="Text 9"/>
          <p:cNvSpPr/>
          <p:nvPr/>
        </p:nvSpPr>
        <p:spPr>
          <a:xfrm>
            <a:off x="548640" y="26334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✗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57860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 Intelligence in Questions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90779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Static question banks serve irrelevant questions regardless of the specific job context or candidate answers.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602736"/>
            <a:ext cx="8321040" cy="960120"/>
          </a:xfrm>
          <a:prstGeom prst="rect">
            <a:avLst/>
          </a:prstGeom>
          <a:solidFill>
            <a:srgbClr val="0A2840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5" name="Shape 13"/>
          <p:cNvSpPr/>
          <p:nvPr/>
        </p:nvSpPr>
        <p:spPr>
          <a:xfrm>
            <a:off x="548640" y="3767328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6" name="Text 14"/>
          <p:cNvSpPr/>
          <p:nvPr/>
        </p:nvSpPr>
        <p:spPr>
          <a:xfrm>
            <a:off x="54864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✗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694176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 Real-Time Feedback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40233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Candidates receive no guidance or evaluation during the interview process — a lost opportunity for both sides.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998B"/>
                </a:solidFill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475488"/>
            <a:ext cx="8686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82880" y="1234440"/>
            <a:ext cx="1261872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182880" y="1234440"/>
            <a:ext cx="1261872" cy="64008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182880" y="1399032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" y="1947672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</a:rPr>
              <a:t>Input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" y="2240280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</a:rPr>
              <a:t>Job Description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444752" y="1965960"/>
            <a:ext cx="201168" cy="0"/>
          </a:xfrm>
          <a:prstGeom prst="line">
            <a:avLst/>
          </a:prstGeom>
          <a:noFill/>
          <a:ln w="19050">
            <a:solidFill>
              <a:srgbClr val="1A6CA8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1" name="Shape 9"/>
          <p:cNvSpPr/>
          <p:nvPr/>
        </p:nvSpPr>
        <p:spPr>
          <a:xfrm>
            <a:off x="1645920" y="1234440"/>
            <a:ext cx="1261872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2" name="Shape 10"/>
          <p:cNvSpPr/>
          <p:nvPr/>
        </p:nvSpPr>
        <p:spPr>
          <a:xfrm>
            <a:off x="1645920" y="1234440"/>
            <a:ext cx="1261872" cy="64008"/>
          </a:xfrm>
          <a:prstGeom prst="rect">
            <a:avLst/>
          </a:prstGeom>
          <a:solidFill>
            <a:srgbClr val="1A6CA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3" name="Text 11"/>
          <p:cNvSpPr/>
          <p:nvPr/>
        </p:nvSpPr>
        <p:spPr>
          <a:xfrm>
            <a:off x="1645920" y="1399032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45920" y="1947672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6CA8"/>
                </a:solidFill>
              </a:rPr>
              <a:t>ML Layer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45920" y="2240280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</a:rPr>
              <a:t>Role Classifier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07792" y="1965960"/>
            <a:ext cx="201168" cy="0"/>
          </a:xfrm>
          <a:prstGeom prst="line">
            <a:avLst/>
          </a:prstGeom>
          <a:noFill/>
          <a:ln w="19050">
            <a:solidFill>
              <a:srgbClr val="1A6CA8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7" name="Shape 15"/>
          <p:cNvSpPr/>
          <p:nvPr/>
        </p:nvSpPr>
        <p:spPr>
          <a:xfrm>
            <a:off x="3108960" y="1234440"/>
            <a:ext cx="1261872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8" name="Shape 16"/>
          <p:cNvSpPr/>
          <p:nvPr/>
        </p:nvSpPr>
        <p:spPr>
          <a:xfrm>
            <a:off x="3108960" y="1234440"/>
            <a:ext cx="1261872" cy="64008"/>
          </a:xfrm>
          <a:prstGeom prst="rect">
            <a:avLst/>
          </a:prstGeom>
          <a:solidFill>
            <a:srgbClr val="1B998B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9" name="Text 17"/>
          <p:cNvSpPr/>
          <p:nvPr/>
        </p:nvSpPr>
        <p:spPr>
          <a:xfrm>
            <a:off x="3108960" y="1399032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108960" y="1947672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998B"/>
                </a:solidFill>
              </a:rPr>
              <a:t>DL Layer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08960" y="2240280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</a:rPr>
              <a:t>Embeddings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370832" y="1965960"/>
            <a:ext cx="201168" cy="0"/>
          </a:xfrm>
          <a:prstGeom prst="line">
            <a:avLst/>
          </a:prstGeom>
          <a:noFill/>
          <a:ln w="19050">
            <a:solidFill>
              <a:srgbClr val="1A6CA8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3" name="Shape 21"/>
          <p:cNvSpPr/>
          <p:nvPr/>
        </p:nvSpPr>
        <p:spPr>
          <a:xfrm>
            <a:off x="4572000" y="1234440"/>
            <a:ext cx="1261872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4" name="Shape 22"/>
          <p:cNvSpPr/>
          <p:nvPr/>
        </p:nvSpPr>
        <p:spPr>
          <a:xfrm>
            <a:off x="4572000" y="1234440"/>
            <a:ext cx="1261872" cy="64008"/>
          </a:xfrm>
          <a:prstGeom prst="rect">
            <a:avLst/>
          </a:prstGeom>
          <a:solidFill>
            <a:srgbClr val="8A2BE2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5" name="Text 23"/>
          <p:cNvSpPr/>
          <p:nvPr/>
        </p:nvSpPr>
        <p:spPr>
          <a:xfrm>
            <a:off x="4572000" y="1399032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572000" y="1947672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2BE2"/>
                </a:solidFill>
              </a:rPr>
              <a:t>RAG Layer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0" y="2240280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</a:rPr>
              <a:t>FAISS Search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833872" y="1965960"/>
            <a:ext cx="201168" cy="0"/>
          </a:xfrm>
          <a:prstGeom prst="line">
            <a:avLst/>
          </a:prstGeom>
          <a:noFill/>
          <a:ln w="19050">
            <a:solidFill>
              <a:srgbClr val="1A6CA8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9" name="Shape 27"/>
          <p:cNvSpPr/>
          <p:nvPr/>
        </p:nvSpPr>
        <p:spPr>
          <a:xfrm>
            <a:off x="6035040" y="1234440"/>
            <a:ext cx="1261872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0" name="Shape 28"/>
          <p:cNvSpPr/>
          <p:nvPr/>
        </p:nvSpPr>
        <p:spPr>
          <a:xfrm>
            <a:off x="6035040" y="1234440"/>
            <a:ext cx="1261872" cy="64008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1" name="Text 29"/>
          <p:cNvSpPr/>
          <p:nvPr/>
        </p:nvSpPr>
        <p:spPr>
          <a:xfrm>
            <a:off x="6035040" y="1399032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035040" y="1947672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7E22"/>
                </a:solidFill>
              </a:rPr>
              <a:t>LLM Layer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35040" y="2240280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</a:rPr>
              <a:t>FLAN-T5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296912" y="1965960"/>
            <a:ext cx="201168" cy="0"/>
          </a:xfrm>
          <a:prstGeom prst="line">
            <a:avLst/>
          </a:prstGeom>
          <a:noFill/>
          <a:ln w="19050">
            <a:solidFill>
              <a:srgbClr val="1A6CA8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5" name="Shape 33"/>
          <p:cNvSpPr/>
          <p:nvPr/>
        </p:nvSpPr>
        <p:spPr>
          <a:xfrm>
            <a:off x="7498080" y="1234440"/>
            <a:ext cx="1261872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6" name="Shape 34"/>
          <p:cNvSpPr/>
          <p:nvPr/>
        </p:nvSpPr>
        <p:spPr>
          <a:xfrm>
            <a:off x="7498080" y="1234440"/>
            <a:ext cx="1261872" cy="64008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7" name="Text 35"/>
          <p:cNvSpPr/>
          <p:nvPr/>
        </p:nvSpPr>
        <p:spPr>
          <a:xfrm>
            <a:off x="7498080" y="1399032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498080" y="1947672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AE60"/>
                </a:solidFill>
              </a:rPr>
              <a:t>Output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498080" y="2240280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</a:rPr>
              <a:t>Gradio UI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82880" y="2926080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A7A"/>
                </a:solidFill>
              </a:rPr>
              <a:t>End-to-end pipeline: Job Description → Role Classification → Semantic Retrieval → Intelligent Feedback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0" y="338328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1B998B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2" name="Text 40"/>
          <p:cNvSpPr/>
          <p:nvPr/>
        </p:nvSpPr>
        <p:spPr>
          <a:xfrm>
            <a:off x="3200400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🌐  Final Product: Interactive Gradio Web App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6CA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A6CA8"/>
                </a:solidFill>
              </a:rPr>
              <a:t>03 — Technical Deep Dive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Layer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420624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256032" y="1078992"/>
            <a:ext cx="4206240" cy="64008"/>
          </a:xfrm>
          <a:prstGeom prst="rect">
            <a:avLst/>
          </a:prstGeom>
          <a:solidFill>
            <a:srgbClr val="1A6CA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411480" y="11887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CA8"/>
                </a:solidFill>
              </a:rPr>
              <a:t>What &amp; Why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276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CA8"/>
                </a:solidFill>
              </a:rPr>
              <a:t>Algorithm: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74520" y="162763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</a:rPr>
              <a:t>Logistic Regression (scikit-learn)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CA8"/>
                </a:solidFill>
              </a:rPr>
              <a:t>Feature Extraction: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74520" y="21031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</a:rPr>
              <a:t>TF-IDF Vectorization (n-gram aware)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57860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CA8"/>
                </a:solidFill>
              </a:rPr>
              <a:t>Input: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74520" y="257860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</a:rPr>
              <a:t>Raw job description text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05409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CA8"/>
                </a:solidFill>
              </a:rPr>
              <a:t>Output: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74520" y="305409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</a:rPr>
              <a:t>Predicted job role category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52958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CA8"/>
                </a:solidFill>
              </a:rPr>
              <a:t>Why LR?: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74520" y="352958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</a:rPr>
              <a:t>Interpretable, fast, handles high-dim sparse text perfectly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0050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CA8"/>
                </a:solidFill>
              </a:rPr>
              <a:t>Why TF-IDF?: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74520" y="400507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</a:rPr>
              <a:t>Captures keyword importance, filters common stop words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81728" y="1078992"/>
            <a:ext cx="40690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1" name="Shape 19"/>
          <p:cNvSpPr/>
          <p:nvPr/>
        </p:nvSpPr>
        <p:spPr>
          <a:xfrm>
            <a:off x="4681728" y="1078992"/>
            <a:ext cx="4069080" cy="64008"/>
          </a:xfrm>
          <a:prstGeom prst="rect">
            <a:avLst/>
          </a:prstGeom>
          <a:solidFill>
            <a:srgbClr val="1A6CA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2" name="Text 20"/>
          <p:cNvSpPr/>
          <p:nvPr/>
        </p:nvSpPr>
        <p:spPr>
          <a:xfrm>
            <a:off x="4846320" y="11887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CA8"/>
                </a:solidFill>
              </a:rPr>
              <a:t>Model Performance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16916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Accuracy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92440" y="16916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6CA8"/>
                </a:solidFill>
              </a:rPr>
              <a:t>94%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1993392"/>
            <a:ext cx="3749040" cy="201168"/>
          </a:xfrm>
          <a:prstGeom prst="rect">
            <a:avLst/>
          </a:prstGeom>
          <a:solidFill>
            <a:srgbClr val="E8F0F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6" name="Shape 24"/>
          <p:cNvSpPr/>
          <p:nvPr/>
        </p:nvSpPr>
        <p:spPr>
          <a:xfrm>
            <a:off x="4846320" y="1993392"/>
            <a:ext cx="3524098" cy="201168"/>
          </a:xfrm>
          <a:prstGeom prst="rect">
            <a:avLst/>
          </a:prstGeom>
          <a:solidFill>
            <a:srgbClr val="1A6CA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7" name="Text 25"/>
          <p:cNvSpPr/>
          <p:nvPr/>
        </p:nvSpPr>
        <p:spPr>
          <a:xfrm>
            <a:off x="4846320" y="24048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F1-Score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92440" y="24048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998B"/>
                </a:solidFill>
              </a:rPr>
              <a:t>92%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2706624"/>
            <a:ext cx="3749040" cy="201168"/>
          </a:xfrm>
          <a:prstGeom prst="rect">
            <a:avLst/>
          </a:prstGeom>
          <a:solidFill>
            <a:srgbClr val="E8F0F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0" name="Shape 28"/>
          <p:cNvSpPr/>
          <p:nvPr/>
        </p:nvSpPr>
        <p:spPr>
          <a:xfrm>
            <a:off x="4846320" y="2706624"/>
            <a:ext cx="3449117" cy="201168"/>
          </a:xfrm>
          <a:prstGeom prst="rect">
            <a:avLst/>
          </a:prstGeom>
          <a:solidFill>
            <a:srgbClr val="1B998B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1" name="Text 29"/>
          <p:cNvSpPr/>
          <p:nvPr/>
        </p:nvSpPr>
        <p:spPr>
          <a:xfrm>
            <a:off x="4846320" y="311810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Precision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92440" y="311810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8A2BE2"/>
                </a:solidFill>
              </a:rPr>
              <a:t>93%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46320" y="3419856"/>
            <a:ext cx="3749040" cy="201168"/>
          </a:xfrm>
          <a:prstGeom prst="rect">
            <a:avLst/>
          </a:prstGeom>
          <a:solidFill>
            <a:srgbClr val="E8F0F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4" name="Shape 32"/>
          <p:cNvSpPr/>
          <p:nvPr/>
        </p:nvSpPr>
        <p:spPr>
          <a:xfrm>
            <a:off x="4846320" y="3419856"/>
            <a:ext cx="3486607" cy="201168"/>
          </a:xfrm>
          <a:prstGeom prst="rect">
            <a:avLst/>
          </a:prstGeom>
          <a:solidFill>
            <a:srgbClr val="8A2BE2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5" name="Text 33"/>
          <p:cNvSpPr/>
          <p:nvPr/>
        </p:nvSpPr>
        <p:spPr>
          <a:xfrm>
            <a:off x="4846320" y="383133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Recall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092440" y="383133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67E22"/>
                </a:solidFill>
              </a:rPr>
              <a:t>91%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46320" y="4133088"/>
            <a:ext cx="3749040" cy="201168"/>
          </a:xfrm>
          <a:prstGeom prst="rect">
            <a:avLst/>
          </a:prstGeom>
          <a:solidFill>
            <a:srgbClr val="E8F0F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8" name="Shape 36"/>
          <p:cNvSpPr/>
          <p:nvPr/>
        </p:nvSpPr>
        <p:spPr>
          <a:xfrm>
            <a:off x="4846320" y="4133088"/>
            <a:ext cx="3411626" cy="201168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EG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998B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B998B"/>
                </a:solidFill>
              </a:rPr>
              <a:t>03 — Technical Deep Dive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 ·  RAG System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420624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256032" y="1078992"/>
            <a:ext cx="4206240" cy="64008"/>
          </a:xfrm>
          <a:prstGeom prst="rect">
            <a:avLst/>
          </a:prstGeom>
          <a:solidFill>
            <a:srgbClr val="1B998B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411480" y="117043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998B"/>
                </a:solidFill>
              </a:rPr>
              <a:t>🔢  DL Embeddings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66420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A"/>
                </a:solidFill>
              </a:rPr>
              <a:t>Model: sentence-transformers/all-MiniLM-L6-v2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201168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A"/>
                </a:solidFill>
              </a:rPr>
              <a:t>Dimension: 384-dimensional dense vectors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33172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A"/>
                </a:solidFill>
              </a:rPr>
              <a:t>Architecture: 6-layer Transformer encoder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2761488"/>
            <a:ext cx="4005072" cy="868680"/>
          </a:xfrm>
          <a:prstGeom prst="rect">
            <a:avLst/>
          </a:prstGeom>
          <a:solidFill>
            <a:srgbClr val="E8F8F5"/>
          </a:solidFill>
          <a:ln w="635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2" name="Text 10"/>
          <p:cNvSpPr/>
          <p:nvPr/>
        </p:nvSpPr>
        <p:spPr>
          <a:xfrm>
            <a:off x="502920" y="283464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998B"/>
                </a:solidFill>
              </a:rPr>
              <a:t>💡 Key Insight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090672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</a:rPr>
              <a:t>Unlike ML which sees words, DL understands meaning. "Software Engineer" and "Java Developer" become semantically close — closing the lexical gap.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81728" y="1078992"/>
            <a:ext cx="40690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5" name="Shape 13"/>
          <p:cNvSpPr/>
          <p:nvPr/>
        </p:nvSpPr>
        <p:spPr>
          <a:xfrm>
            <a:off x="4681728" y="1078992"/>
            <a:ext cx="4069080" cy="64008"/>
          </a:xfrm>
          <a:prstGeom prst="rect">
            <a:avLst/>
          </a:prstGeom>
          <a:solidFill>
            <a:srgbClr val="8A2BE2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6" name="Text 14"/>
          <p:cNvSpPr/>
          <p:nvPr/>
        </p:nvSpPr>
        <p:spPr>
          <a:xfrm>
            <a:off x="4828032" y="117043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2BE2"/>
                </a:solidFill>
              </a:rPr>
              <a:t>🔍  RAG with FAISS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28032" y="16642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A"/>
                </a:solidFill>
              </a:rPr>
              <a:t>Vector DB: FAISS (Facebook AI Similarity Search)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28032" y="2011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A"/>
                </a:solidFill>
              </a:rPr>
              <a:t>Knowledge Base: Curated CSV (MCQ + Essays)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28032" y="2331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A"/>
                </a:solidFill>
              </a:rPr>
              <a:t>Strategy: Top-K Cosine Similarity Search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73168" y="2761488"/>
            <a:ext cx="3867912" cy="868680"/>
          </a:xfrm>
          <a:prstGeom prst="rect">
            <a:avLst/>
          </a:prstGeom>
          <a:solidFill>
            <a:srgbClr val="F3EEFF"/>
          </a:solidFill>
          <a:ln w="6350">
            <a:solidFill>
              <a:srgbClr val="8A2BE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1" name="Text 19"/>
          <p:cNvSpPr/>
          <p:nvPr/>
        </p:nvSpPr>
        <p:spPr>
          <a:xfrm>
            <a:off x="4919472" y="2834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2BE2"/>
                </a:solidFill>
              </a:rPr>
              <a:t>💡 Key Insight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9472" y="3090672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</a:rPr>
              <a:t>RAG eliminates hallucination. Questions are retrieved from verified data, not generated randomly — guaranteeing technical accuracy.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0A500"/>
                </a:solidFill>
              </a:rPr>
              <a:t>03 — Technical Deep Dive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Feedback Engine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931920" y="109728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dirty="0">
                <a:solidFill>
                  <a:srgbClr val="000000"/>
                </a:solidFill>
              </a:rPr>
              <a:t>💬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3566160" y="2011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A500"/>
                </a:solidFill>
              </a:rPr>
              <a:t>FLAN-T5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474720" y="235915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</a:rPr>
              <a:t>google/flan-t5-small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2834640" cy="1645920"/>
          </a:xfrm>
          <a:prstGeom prst="rect">
            <a:avLst/>
          </a:prstGeom>
          <a:solidFill>
            <a:srgbClr val="1A2A3A"/>
          </a:solidFill>
          <a:ln w="635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8" name="Text 6"/>
          <p:cNvSpPr/>
          <p:nvPr/>
        </p:nvSpPr>
        <p:spPr>
          <a:xfrm>
            <a:off x="502920" y="1298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B998B"/>
                </a:solidFill>
              </a:rPr>
              <a:t>INPUT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664208"/>
            <a:ext cx="109728" cy="109728"/>
          </a:xfrm>
          <a:prstGeom prst="ellipse">
            <a:avLst/>
          </a:prstGeom>
          <a:solidFill>
            <a:srgbClr val="1B998B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0" name="Text 8"/>
          <p:cNvSpPr/>
          <p:nvPr/>
        </p:nvSpPr>
        <p:spPr>
          <a:xfrm>
            <a:off x="749808" y="160934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Candidate's answer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011680"/>
            <a:ext cx="109728" cy="109728"/>
          </a:xfrm>
          <a:prstGeom prst="ellipse">
            <a:avLst/>
          </a:prstGeom>
          <a:solidFill>
            <a:srgbClr val="1B998B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2" name="Text 10"/>
          <p:cNvSpPr/>
          <p:nvPr/>
        </p:nvSpPr>
        <p:spPr>
          <a:xfrm>
            <a:off x="749808" y="195681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Retrieved questions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359152"/>
            <a:ext cx="109728" cy="109728"/>
          </a:xfrm>
          <a:prstGeom prst="ellipse">
            <a:avLst/>
          </a:prstGeom>
          <a:solidFill>
            <a:srgbClr val="1B998B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4" name="Text 12"/>
          <p:cNvSpPr/>
          <p:nvPr/>
        </p:nvSpPr>
        <p:spPr>
          <a:xfrm>
            <a:off x="749808" y="230428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Job role context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2029968"/>
            <a:ext cx="594360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6" name="Shape 14"/>
          <p:cNvSpPr/>
          <p:nvPr/>
        </p:nvSpPr>
        <p:spPr>
          <a:xfrm>
            <a:off x="5349240" y="2029968"/>
            <a:ext cx="594360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7" name="Shape 15"/>
          <p:cNvSpPr/>
          <p:nvPr/>
        </p:nvSpPr>
        <p:spPr>
          <a:xfrm>
            <a:off x="5943600" y="1188720"/>
            <a:ext cx="2834640" cy="1645920"/>
          </a:xfrm>
          <a:prstGeom prst="rect">
            <a:avLst/>
          </a:prstGeom>
          <a:solidFill>
            <a:srgbClr val="1A2A3A"/>
          </a:solidFill>
          <a:ln w="635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8" name="Text 16"/>
          <p:cNvSpPr/>
          <p:nvPr/>
        </p:nvSpPr>
        <p:spPr>
          <a:xfrm>
            <a:off x="6080760" y="1298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0A500"/>
                </a:solidFill>
              </a:rPr>
              <a:t>OUTPUT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664208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0" name="Text 18"/>
          <p:cNvSpPr/>
          <p:nvPr/>
        </p:nvSpPr>
        <p:spPr>
          <a:xfrm>
            <a:off x="6336792" y="160934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Contextual evaluation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2011680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2" name="Text 20"/>
          <p:cNvSpPr/>
          <p:nvPr/>
        </p:nvSpPr>
        <p:spPr>
          <a:xfrm>
            <a:off x="6336792" y="195681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Strengths &amp; weaknesses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2359152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4" name="Text 22"/>
          <p:cNvSpPr/>
          <p:nvPr/>
        </p:nvSpPr>
        <p:spPr>
          <a:xfrm>
            <a:off x="6336792" y="230428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Real-time feedback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2999232"/>
            <a:ext cx="8412480" cy="822960"/>
          </a:xfrm>
          <a:prstGeom prst="rect">
            <a:avLst/>
          </a:prstGeom>
          <a:solidFill>
            <a:srgbClr val="1A2A3A"/>
          </a:solidFill>
          <a:ln w="635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6" name="Text 24"/>
          <p:cNvSpPr/>
          <p:nvPr/>
        </p:nvSpPr>
        <p:spPr>
          <a:xfrm>
            <a:off x="548640" y="3108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500"/>
                </a:solidFill>
              </a:rPr>
              <a:t>Why FLAN-T5?  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336499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Instruction-following capability makes it ideal for evaluation tasks. CPU-friendly — no GPU infrastructure required for academic deployment. Bridges the gap between retrieval and natural language generation.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998B"/>
                </a:solidFill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42062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Methodology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1143000"/>
            <a:ext cx="202996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256032" y="1143000"/>
            <a:ext cx="2029968" cy="64008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7" name="Shape 5"/>
          <p:cNvSpPr/>
          <p:nvPr/>
        </p:nvSpPr>
        <p:spPr>
          <a:xfrm>
            <a:off x="365760" y="1307592"/>
            <a:ext cx="402336" cy="402336"/>
          </a:xfrm>
          <a:prstGeom prst="ellipse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8" name="Text 6"/>
          <p:cNvSpPr/>
          <p:nvPr/>
        </p:nvSpPr>
        <p:spPr>
          <a:xfrm>
            <a:off x="365760" y="12893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" y="1764792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Data Acquisition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2103120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</a:rPr>
              <a:t>Job descriptions &amp; question datasets (MCQ + Essay)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68880" y="1143000"/>
            <a:ext cx="202996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2" name="Shape 10"/>
          <p:cNvSpPr/>
          <p:nvPr/>
        </p:nvSpPr>
        <p:spPr>
          <a:xfrm>
            <a:off x="2468880" y="1143000"/>
            <a:ext cx="2029968" cy="64008"/>
          </a:xfrm>
          <a:prstGeom prst="rect">
            <a:avLst/>
          </a:prstGeom>
          <a:solidFill>
            <a:srgbClr val="1A6CA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3" name="Shape 11"/>
          <p:cNvSpPr/>
          <p:nvPr/>
        </p:nvSpPr>
        <p:spPr>
          <a:xfrm>
            <a:off x="2578608" y="1307592"/>
            <a:ext cx="402336" cy="402336"/>
          </a:xfrm>
          <a:prstGeom prst="ellipse">
            <a:avLst/>
          </a:prstGeom>
          <a:solidFill>
            <a:srgbClr val="1A6CA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4" name="Text 12"/>
          <p:cNvSpPr/>
          <p:nvPr/>
        </p:nvSpPr>
        <p:spPr>
          <a:xfrm>
            <a:off x="2578608" y="12893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60320" y="1764792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Cleaning &amp; EDA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2103120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</a:rPr>
              <a:t>Missing values, class balance, distribution analysis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81728" y="1143000"/>
            <a:ext cx="202996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8" name="Shape 16"/>
          <p:cNvSpPr/>
          <p:nvPr/>
        </p:nvSpPr>
        <p:spPr>
          <a:xfrm>
            <a:off x="4681728" y="1143000"/>
            <a:ext cx="2029968" cy="64008"/>
          </a:xfrm>
          <a:prstGeom prst="rect">
            <a:avLst/>
          </a:prstGeom>
          <a:solidFill>
            <a:srgbClr val="1B998B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9" name="Shape 17"/>
          <p:cNvSpPr/>
          <p:nvPr/>
        </p:nvSpPr>
        <p:spPr>
          <a:xfrm>
            <a:off x="4791456" y="1307592"/>
            <a:ext cx="402336" cy="402336"/>
          </a:xfrm>
          <a:prstGeom prst="ellipse">
            <a:avLst/>
          </a:prstGeom>
          <a:solidFill>
            <a:srgbClr val="1B998B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0" name="Text 18"/>
          <p:cNvSpPr/>
          <p:nvPr/>
        </p:nvSpPr>
        <p:spPr>
          <a:xfrm>
            <a:off x="4791456" y="12893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73168" y="1764792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Feature Engineering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73168" y="2103120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</a:rPr>
              <a:t>Text cleaning, tokenization, TF-IDF extraction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94576" y="1143000"/>
            <a:ext cx="202996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4" name="Shape 22"/>
          <p:cNvSpPr/>
          <p:nvPr/>
        </p:nvSpPr>
        <p:spPr>
          <a:xfrm>
            <a:off x="6894576" y="1143000"/>
            <a:ext cx="2029968" cy="64008"/>
          </a:xfrm>
          <a:prstGeom prst="rect">
            <a:avLst/>
          </a:prstGeom>
          <a:solidFill>
            <a:srgbClr val="8A2BE2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5" name="Shape 23"/>
          <p:cNvSpPr/>
          <p:nvPr/>
        </p:nvSpPr>
        <p:spPr>
          <a:xfrm>
            <a:off x="7004304" y="1307592"/>
            <a:ext cx="402336" cy="402336"/>
          </a:xfrm>
          <a:prstGeom prst="ellipse">
            <a:avLst/>
          </a:prstGeom>
          <a:solidFill>
            <a:srgbClr val="8A2BE2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6" name="Text 24"/>
          <p:cNvSpPr/>
          <p:nvPr/>
        </p:nvSpPr>
        <p:spPr>
          <a:xfrm>
            <a:off x="7004304" y="12893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86016" y="1764792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Model Training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86016" y="2103120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</a:rPr>
              <a:t>Logistic Regression + hyperparameter tuning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6032" y="2788920"/>
            <a:ext cx="202996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0" name="Shape 28"/>
          <p:cNvSpPr/>
          <p:nvPr/>
        </p:nvSpPr>
        <p:spPr>
          <a:xfrm>
            <a:off x="256032" y="2788920"/>
            <a:ext cx="2029968" cy="64008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1" name="Shape 29"/>
          <p:cNvSpPr/>
          <p:nvPr/>
        </p:nvSpPr>
        <p:spPr>
          <a:xfrm>
            <a:off x="365760" y="2953512"/>
            <a:ext cx="402336" cy="402336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2" name="Text 30"/>
          <p:cNvSpPr/>
          <p:nvPr/>
        </p:nvSpPr>
        <p:spPr>
          <a:xfrm>
            <a:off x="365760" y="29352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47472" y="3410712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Embed &amp; Index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47472" y="3749040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</a:rPr>
              <a:t>MiniLM embeddings + FAISS index construction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468880" y="2788920"/>
            <a:ext cx="202996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6" name="Shape 34"/>
          <p:cNvSpPr/>
          <p:nvPr/>
        </p:nvSpPr>
        <p:spPr>
          <a:xfrm>
            <a:off x="2468880" y="2788920"/>
            <a:ext cx="2029968" cy="6400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7" name="Shape 35"/>
          <p:cNvSpPr/>
          <p:nvPr/>
        </p:nvSpPr>
        <p:spPr>
          <a:xfrm>
            <a:off x="2578608" y="2953512"/>
            <a:ext cx="402336" cy="40233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8" name="Text 36"/>
          <p:cNvSpPr/>
          <p:nvPr/>
        </p:nvSpPr>
        <p:spPr>
          <a:xfrm>
            <a:off x="2578608" y="29352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560320" y="3410712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LLM Integration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560320" y="3749040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</a:rPr>
              <a:t>FLAN-T5 prompt engineering &amp; evaluation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81728" y="2788920"/>
            <a:ext cx="202996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42" name="Shape 40"/>
          <p:cNvSpPr/>
          <p:nvPr/>
        </p:nvSpPr>
        <p:spPr>
          <a:xfrm>
            <a:off x="4681728" y="2788920"/>
            <a:ext cx="2029968" cy="64008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3" name="Shape 41"/>
          <p:cNvSpPr/>
          <p:nvPr/>
        </p:nvSpPr>
        <p:spPr>
          <a:xfrm>
            <a:off x="4791456" y="2953512"/>
            <a:ext cx="402336" cy="402336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4" name="Text 42"/>
          <p:cNvSpPr/>
          <p:nvPr/>
        </p:nvSpPr>
        <p:spPr>
          <a:xfrm>
            <a:off x="4791456" y="29352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773168" y="3410712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Deployment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773168" y="3749040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</a:rPr>
              <a:t>Gradio web app — end-to-end live system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6CA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01168" y="960120"/>
            <a:ext cx="2084832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5" name="Shape 3"/>
          <p:cNvSpPr/>
          <p:nvPr/>
        </p:nvSpPr>
        <p:spPr>
          <a:xfrm>
            <a:off x="201168" y="960120"/>
            <a:ext cx="2084832" cy="411480"/>
          </a:xfrm>
          <a:prstGeom prst="rect">
            <a:avLst/>
          </a:prstGeom>
          <a:solidFill>
            <a:srgbClr val="1A6CA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6" name="Text 4"/>
          <p:cNvSpPr/>
          <p:nvPr/>
        </p:nvSpPr>
        <p:spPr>
          <a:xfrm>
            <a:off x="292608" y="969264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Machine Learning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" y="1481328"/>
            <a:ext cx="1810512" cy="594360"/>
          </a:xfrm>
          <a:prstGeom prst="rect">
            <a:avLst/>
          </a:prstGeom>
          <a:solidFill>
            <a:srgbClr val="F0F7FF"/>
          </a:solidFill>
          <a:ln w="6350">
            <a:solidFill>
              <a:srgbClr val="E0ECF8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8" name="Text 6"/>
          <p:cNvSpPr/>
          <p:nvPr/>
        </p:nvSpPr>
        <p:spPr>
          <a:xfrm>
            <a:off x="402336" y="1481328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scikit-learn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" y="2231136"/>
            <a:ext cx="181051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8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0" name="Text 8"/>
          <p:cNvSpPr/>
          <p:nvPr/>
        </p:nvSpPr>
        <p:spPr>
          <a:xfrm>
            <a:off x="402336" y="2231136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Logistic Regression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" y="2980944"/>
            <a:ext cx="1810512" cy="594360"/>
          </a:xfrm>
          <a:prstGeom prst="rect">
            <a:avLst/>
          </a:prstGeom>
          <a:solidFill>
            <a:srgbClr val="F0F7FF"/>
          </a:solidFill>
          <a:ln w="6350">
            <a:solidFill>
              <a:srgbClr val="E0ECF8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2" name="Text 10"/>
          <p:cNvSpPr/>
          <p:nvPr/>
        </p:nvSpPr>
        <p:spPr>
          <a:xfrm>
            <a:off x="402336" y="2980944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TF-IDF Vectorizer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" y="3730752"/>
            <a:ext cx="181051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8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4" name="Text 12"/>
          <p:cNvSpPr/>
          <p:nvPr/>
        </p:nvSpPr>
        <p:spPr>
          <a:xfrm>
            <a:off x="402336" y="3730752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NumPy · Pandas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23160" y="960120"/>
            <a:ext cx="2084832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6" name="Shape 14"/>
          <p:cNvSpPr/>
          <p:nvPr/>
        </p:nvSpPr>
        <p:spPr>
          <a:xfrm>
            <a:off x="2423160" y="960120"/>
            <a:ext cx="2084832" cy="411480"/>
          </a:xfrm>
          <a:prstGeom prst="rect">
            <a:avLst/>
          </a:prstGeom>
          <a:solidFill>
            <a:srgbClr val="1B998B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7" name="Text 15"/>
          <p:cNvSpPr/>
          <p:nvPr/>
        </p:nvSpPr>
        <p:spPr>
          <a:xfrm>
            <a:off x="2514600" y="969264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Deep Learning / NLP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60320" y="1481328"/>
            <a:ext cx="1810512" cy="594360"/>
          </a:xfrm>
          <a:prstGeom prst="rect">
            <a:avLst/>
          </a:prstGeom>
          <a:solidFill>
            <a:srgbClr val="F0F7FF"/>
          </a:solidFill>
          <a:ln w="6350">
            <a:solidFill>
              <a:srgbClr val="E0ECF8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9" name="Text 17"/>
          <p:cNvSpPr/>
          <p:nvPr/>
        </p:nvSpPr>
        <p:spPr>
          <a:xfrm>
            <a:off x="2624328" y="1481328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Sentence-Transformers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0" y="2231136"/>
            <a:ext cx="181051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8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1" name="Text 19"/>
          <p:cNvSpPr/>
          <p:nvPr/>
        </p:nvSpPr>
        <p:spPr>
          <a:xfrm>
            <a:off x="2624328" y="2231136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all-MiniLM-L6-v2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0" y="2980944"/>
            <a:ext cx="1810512" cy="594360"/>
          </a:xfrm>
          <a:prstGeom prst="rect">
            <a:avLst/>
          </a:prstGeom>
          <a:solidFill>
            <a:srgbClr val="F0F7FF"/>
          </a:solidFill>
          <a:ln w="6350">
            <a:solidFill>
              <a:srgbClr val="E0ECF8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3" name="Text 21"/>
          <p:cNvSpPr/>
          <p:nvPr/>
        </p:nvSpPr>
        <p:spPr>
          <a:xfrm>
            <a:off x="2624328" y="2980944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HuggingFace Transformers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60320" y="3730752"/>
            <a:ext cx="181051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8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5" name="Text 23"/>
          <p:cNvSpPr/>
          <p:nvPr/>
        </p:nvSpPr>
        <p:spPr>
          <a:xfrm>
            <a:off x="2624328" y="3730752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FLAN-T5 (Seq2Seq)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45152" y="960120"/>
            <a:ext cx="2084832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7" name="Shape 25"/>
          <p:cNvSpPr/>
          <p:nvPr/>
        </p:nvSpPr>
        <p:spPr>
          <a:xfrm>
            <a:off x="4645152" y="960120"/>
            <a:ext cx="2084832" cy="411480"/>
          </a:xfrm>
          <a:prstGeom prst="rect">
            <a:avLst/>
          </a:prstGeom>
          <a:solidFill>
            <a:srgbClr val="8A2BE2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8" name="Text 26"/>
          <p:cNvSpPr/>
          <p:nvPr/>
        </p:nvSpPr>
        <p:spPr>
          <a:xfrm>
            <a:off x="4736592" y="969264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Vector Search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82312" y="1481328"/>
            <a:ext cx="1810512" cy="594360"/>
          </a:xfrm>
          <a:prstGeom prst="rect">
            <a:avLst/>
          </a:prstGeom>
          <a:solidFill>
            <a:srgbClr val="F0F7FF"/>
          </a:solidFill>
          <a:ln w="6350">
            <a:solidFill>
              <a:srgbClr val="E0ECF8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0" name="Text 28"/>
          <p:cNvSpPr/>
          <p:nvPr/>
        </p:nvSpPr>
        <p:spPr>
          <a:xfrm>
            <a:off x="4846320" y="1481328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FAISS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82312" y="2231136"/>
            <a:ext cx="181051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8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2" name="Text 30"/>
          <p:cNvSpPr/>
          <p:nvPr/>
        </p:nvSpPr>
        <p:spPr>
          <a:xfrm>
            <a:off x="4846320" y="2231136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Pickle (persistence)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82312" y="2980944"/>
            <a:ext cx="1810512" cy="594360"/>
          </a:xfrm>
          <a:prstGeom prst="rect">
            <a:avLst/>
          </a:prstGeom>
          <a:solidFill>
            <a:srgbClr val="F0F7FF"/>
          </a:solidFill>
          <a:ln w="6350">
            <a:solidFill>
              <a:srgbClr val="E0ECF8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4" name="Text 32"/>
          <p:cNvSpPr/>
          <p:nvPr/>
        </p:nvSpPr>
        <p:spPr>
          <a:xfrm>
            <a:off x="4846320" y="2980944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Cosine Similarity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82312" y="3730752"/>
            <a:ext cx="181051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8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6" name="Text 34"/>
          <p:cNvSpPr/>
          <p:nvPr/>
        </p:nvSpPr>
        <p:spPr>
          <a:xfrm>
            <a:off x="4846320" y="3730752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Top-K Retrieval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867144" y="960120"/>
            <a:ext cx="2084832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8" name="Shape 36"/>
          <p:cNvSpPr/>
          <p:nvPr/>
        </p:nvSpPr>
        <p:spPr>
          <a:xfrm>
            <a:off x="6867144" y="960120"/>
            <a:ext cx="2084832" cy="41148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9" name="Text 37"/>
          <p:cNvSpPr/>
          <p:nvPr/>
        </p:nvSpPr>
        <p:spPr>
          <a:xfrm>
            <a:off x="6958584" y="969264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 &amp; Tools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004304" y="1481328"/>
            <a:ext cx="1810512" cy="594360"/>
          </a:xfrm>
          <a:prstGeom prst="rect">
            <a:avLst/>
          </a:prstGeom>
          <a:solidFill>
            <a:srgbClr val="F0F7FF"/>
          </a:solidFill>
          <a:ln w="6350">
            <a:solidFill>
              <a:srgbClr val="E0ECF8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1" name="Text 39"/>
          <p:cNvSpPr/>
          <p:nvPr/>
        </p:nvSpPr>
        <p:spPr>
          <a:xfrm>
            <a:off x="7068312" y="1481328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Gradio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004304" y="2231136"/>
            <a:ext cx="181051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8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3" name="Text 41"/>
          <p:cNvSpPr/>
          <p:nvPr/>
        </p:nvSpPr>
        <p:spPr>
          <a:xfrm>
            <a:off x="7068312" y="2231136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Jupyter Notebook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004304" y="2980944"/>
            <a:ext cx="1810512" cy="594360"/>
          </a:xfrm>
          <a:prstGeom prst="rect">
            <a:avLst/>
          </a:prstGeom>
          <a:solidFill>
            <a:srgbClr val="F0F7FF"/>
          </a:solidFill>
          <a:ln w="6350">
            <a:solidFill>
              <a:srgbClr val="E0ECF8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5" name="Text 43"/>
          <p:cNvSpPr/>
          <p:nvPr/>
        </p:nvSpPr>
        <p:spPr>
          <a:xfrm>
            <a:off x="7068312" y="2980944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Python 3.10+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004304" y="3730752"/>
            <a:ext cx="181051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8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7" name="Text 45"/>
          <p:cNvSpPr/>
          <p:nvPr/>
        </p:nvSpPr>
        <p:spPr>
          <a:xfrm>
            <a:off x="7068312" y="3730752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Git · GitHub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998B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B998B"/>
                </a:solidFill>
              </a:rPr>
              <a:t>05 — Results &amp; Impact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2062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2029968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2029968" cy="64008"/>
          </a:xfrm>
          <a:prstGeom prst="rect">
            <a:avLst/>
          </a:prstGeom>
          <a:solidFill>
            <a:srgbClr val="1A6CA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256032" y="1143000"/>
            <a:ext cx="20299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A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56032" y="1874520"/>
            <a:ext cx="2029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A7A"/>
                </a:solidFill>
              </a:rPr>
              <a:t>Classification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6A7A"/>
                </a:solidFill>
              </a:rPr>
              <a:t>Accuracy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68880" y="1005840"/>
            <a:ext cx="2029968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0" name="Shape 8"/>
          <p:cNvSpPr/>
          <p:nvPr/>
        </p:nvSpPr>
        <p:spPr>
          <a:xfrm>
            <a:off x="2468880" y="1005840"/>
            <a:ext cx="2029968" cy="64008"/>
          </a:xfrm>
          <a:prstGeom prst="rect">
            <a:avLst/>
          </a:prstGeom>
          <a:solidFill>
            <a:srgbClr val="1B998B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1" name="Text 9"/>
          <p:cNvSpPr/>
          <p:nvPr/>
        </p:nvSpPr>
        <p:spPr>
          <a:xfrm>
            <a:off x="2468880" y="1143000"/>
            <a:ext cx="20299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2468880" y="1874520"/>
            <a:ext cx="2029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A7A"/>
                </a:solidFill>
              </a:rPr>
              <a:t>F1-Score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6A7A"/>
                </a:solidFill>
              </a:rPr>
              <a:t>(Weighted)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81728" y="1005840"/>
            <a:ext cx="2029968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4" name="Shape 12"/>
          <p:cNvSpPr/>
          <p:nvPr/>
        </p:nvSpPr>
        <p:spPr>
          <a:xfrm>
            <a:off x="4681728" y="1005840"/>
            <a:ext cx="2029968" cy="64008"/>
          </a:xfrm>
          <a:prstGeom prst="rect">
            <a:avLst/>
          </a:prstGeom>
          <a:solidFill>
            <a:srgbClr val="8A2BE2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5" name="Text 13"/>
          <p:cNvSpPr/>
          <p:nvPr/>
        </p:nvSpPr>
        <p:spPr>
          <a:xfrm>
            <a:off x="4681728" y="1143000"/>
            <a:ext cx="20299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8A2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2s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4681728" y="1874520"/>
            <a:ext cx="2029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A7A"/>
                </a:solidFill>
              </a:rPr>
              <a:t>Question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6A7A"/>
                </a:solidFill>
              </a:rPr>
              <a:t>Retrieval Time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94576" y="1005840"/>
            <a:ext cx="2029968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8" name="Shape 16"/>
          <p:cNvSpPr/>
          <p:nvPr/>
        </p:nvSpPr>
        <p:spPr>
          <a:xfrm>
            <a:off x="6894576" y="1005840"/>
            <a:ext cx="2029968" cy="64008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9" name="Text 17"/>
          <p:cNvSpPr/>
          <p:nvPr/>
        </p:nvSpPr>
        <p:spPr>
          <a:xfrm>
            <a:off x="6894576" y="1143000"/>
            <a:ext cx="20299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6894576" y="1874520"/>
            <a:ext cx="2029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A7A"/>
                </a:solidFill>
              </a:rPr>
              <a:t>AI Layers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6A7A"/>
                </a:solidFill>
              </a:rPr>
              <a:t>Integrated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7472" y="2880360"/>
            <a:ext cx="182880" cy="182880"/>
          </a:xfrm>
          <a:prstGeom prst="ellipse">
            <a:avLst/>
          </a:prstGeom>
          <a:solidFill>
            <a:srgbClr val="1B998B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2" name="Text 20"/>
          <p:cNvSpPr/>
          <p:nvPr/>
        </p:nvSpPr>
        <p:spPr>
          <a:xfrm>
            <a:off x="658368" y="27889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</a:rPr>
              <a:t>ML classifier accurately routes job descriptions across multiple technical domains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7472" y="3355848"/>
            <a:ext cx="182880" cy="182880"/>
          </a:xfrm>
          <a:prstGeom prst="ellipse">
            <a:avLst/>
          </a:prstGeom>
          <a:solidFill>
            <a:srgbClr val="1A6CA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4" name="Text 22"/>
          <p:cNvSpPr/>
          <p:nvPr/>
        </p:nvSpPr>
        <p:spPr>
          <a:xfrm>
            <a:off x="658368" y="326440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</a:rPr>
              <a:t>FAISS retrieval surfaces relevant questions even when phrasing differs from knowledge base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7472" y="3831336"/>
            <a:ext cx="182880" cy="182880"/>
          </a:xfrm>
          <a:prstGeom prst="ellipse">
            <a:avLst/>
          </a:prstGeom>
          <a:solidFill>
            <a:srgbClr val="1B998B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6" name="Text 24"/>
          <p:cNvSpPr/>
          <p:nvPr/>
        </p:nvSpPr>
        <p:spPr>
          <a:xfrm>
            <a:off x="658368" y="373989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</a:rPr>
              <a:t>FLAN-T5 generates coherent, contextually appropriate candidate feedback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7472" y="4306824"/>
            <a:ext cx="182880" cy="182880"/>
          </a:xfrm>
          <a:prstGeom prst="ellipse">
            <a:avLst/>
          </a:prstGeom>
          <a:solidFill>
            <a:srgbClr val="1A6CA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8" name="Text 26"/>
          <p:cNvSpPr/>
          <p:nvPr/>
        </p:nvSpPr>
        <p:spPr>
          <a:xfrm>
            <a:off x="658368" y="421538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</a:rPr>
              <a:t>Gradio interface provides zero-config browser-based access — no installation required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071420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7114032" y="0"/>
            <a:ext cx="54864" cy="514350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98B"/>
                </a:solidFill>
              </a:rPr>
              <a:t>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84048" y="1325880"/>
            <a:ext cx="6492240" cy="658368"/>
          </a:xfrm>
          <a:prstGeom prst="rect">
            <a:avLst/>
          </a:prstGeom>
          <a:solidFill>
            <a:srgbClr val="0A2840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365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998B"/>
                </a:solidFill>
              </a:rPr>
              <a:t>✦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325880"/>
            <a:ext cx="5760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Successfully unified ML, DL, RAG, and LLM into a single production-ready pipeline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" y="2130552"/>
            <a:ext cx="6492240" cy="658368"/>
          </a:xfrm>
          <a:prstGeom prst="rect">
            <a:avLst/>
          </a:prstGeom>
          <a:solidFill>
            <a:srgbClr val="0A2840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0" name="Text 8"/>
          <p:cNvSpPr/>
          <p:nvPr/>
        </p:nvSpPr>
        <p:spPr>
          <a:xfrm>
            <a:off x="502920" y="2130552"/>
            <a:ext cx="365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998B"/>
                </a:solidFill>
              </a:rPr>
              <a:t>✦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130552"/>
            <a:ext cx="5760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Demonstrated that grounded AI systems outperform generative-only approaches for high-stakes tasks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" y="2935224"/>
            <a:ext cx="6492240" cy="658368"/>
          </a:xfrm>
          <a:prstGeom prst="rect">
            <a:avLst/>
          </a:prstGeom>
          <a:solidFill>
            <a:srgbClr val="0A2840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3" name="Text 11"/>
          <p:cNvSpPr/>
          <p:nvPr/>
        </p:nvSpPr>
        <p:spPr>
          <a:xfrm>
            <a:off x="502920" y="2935224"/>
            <a:ext cx="365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998B"/>
                </a:solidFill>
              </a:rPr>
              <a:t>✦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2935224"/>
            <a:ext cx="5760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Covered the full Data Science lifecycle: data → EDA → training → evaluation → deployment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4048" y="3739896"/>
            <a:ext cx="6492240" cy="658368"/>
          </a:xfrm>
          <a:prstGeom prst="rect">
            <a:avLst/>
          </a:prstGeom>
          <a:solidFill>
            <a:srgbClr val="0A2840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6" name="Text 14"/>
          <p:cNvSpPr/>
          <p:nvPr/>
        </p:nvSpPr>
        <p:spPr>
          <a:xfrm>
            <a:off x="502920" y="3739896"/>
            <a:ext cx="365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998B"/>
                </a:solidFill>
              </a:rPr>
              <a:t>✦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3739896"/>
            <a:ext cx="5760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Delivered an interactive, browser-accessible product — not just a research prototype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0" y="50292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A500"/>
                </a:solidFill>
              </a:rPr>
              <a:t>Team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42048" y="9601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01  Abdelmoneim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406640" y="1481328"/>
            <a:ext cx="137160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1" name="Text 19"/>
          <p:cNvSpPr/>
          <p:nvPr/>
        </p:nvSpPr>
        <p:spPr>
          <a:xfrm>
            <a:off x="7242048" y="161848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02  Mahmoud A.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406640" y="2139696"/>
            <a:ext cx="137160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3" name="Text 21"/>
          <p:cNvSpPr/>
          <p:nvPr/>
        </p:nvSpPr>
        <p:spPr>
          <a:xfrm>
            <a:off x="7242048" y="2276856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03  Muhammad I.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406640" y="2798064"/>
            <a:ext cx="137160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5" name="Text 23"/>
          <p:cNvSpPr/>
          <p:nvPr/>
        </p:nvSpPr>
        <p:spPr>
          <a:xfrm>
            <a:off x="7242048" y="2935224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04  Abdelrahman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406640" y="3456432"/>
            <a:ext cx="137160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7" name="Text 25"/>
          <p:cNvSpPr/>
          <p:nvPr/>
        </p:nvSpPr>
        <p:spPr>
          <a:xfrm>
            <a:off x="7242048" y="359359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05  Mahmoud H.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406640" y="4114800"/>
            <a:ext cx="137160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9" name="Text 27"/>
          <p:cNvSpPr/>
          <p:nvPr/>
        </p:nvSpPr>
        <p:spPr>
          <a:xfrm>
            <a:off x="7242048" y="42519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06  Kamal S.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80060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7A"/>
                </a:solidFill>
              </a:rPr>
              <a:t>Benha University  ·  Faculty of Computers &amp; AI  ·  2025 – 2026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763</Words>
  <Application>Microsoft Macintosh PowerPoint</Application>
  <PresentationFormat>On-screen Show (16:9)</PresentationFormat>
  <Paragraphs>214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AI Interviewer</dc:title>
  <dc:subject>PptxGenJS Presentation</dc:subject>
  <dc:creator>Benha University Team</dc:creator>
  <cp:lastModifiedBy>Abdelmoneim Adel</cp:lastModifiedBy>
  <cp:revision>5</cp:revision>
  <dcterms:created xsi:type="dcterms:W3CDTF">2026-05-10T06:10:51Z</dcterms:created>
  <dcterms:modified xsi:type="dcterms:W3CDTF">2026-05-10T06:38:32Z</dcterms:modified>
</cp:coreProperties>
</file>